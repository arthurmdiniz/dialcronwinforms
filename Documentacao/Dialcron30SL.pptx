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6" r:id="rId1"/>
  </p:sldMasterIdLst>
  <p:notesMasterIdLst>
    <p:notesMasterId r:id="rId14"/>
  </p:notesMasterIdLst>
  <p:sldIdLst>
    <p:sldId id="271" r:id="rId2"/>
    <p:sldId id="264" r:id="rId3"/>
    <p:sldId id="263" r:id="rId4"/>
    <p:sldId id="265" r:id="rId5"/>
    <p:sldId id="259" r:id="rId6"/>
    <p:sldId id="266" r:id="rId7"/>
    <p:sldId id="267" r:id="rId8"/>
    <p:sldId id="272" r:id="rId9"/>
    <p:sldId id="269" r:id="rId10"/>
    <p:sldId id="268" r:id="rId11"/>
    <p:sldId id="260" r:id="rId12"/>
    <p:sldId id="262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9E84E8-66A5-43AE-B08C-6C30BBEC42B1}" v="54" dt="2026-06-12T16:17:46.0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0387" autoAdjust="0"/>
  </p:normalViewPr>
  <p:slideViewPr>
    <p:cSldViewPr snapToGrid="0">
      <p:cViewPr varScale="1">
        <p:scale>
          <a:sx n="89" d="100"/>
          <a:sy n="89" d="100"/>
        </p:scale>
        <p:origin x="13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1219676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510863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15487c870e_0_6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g115487c870e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409999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15487c870e_0_1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g115487c870e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011937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15487c870e_0_1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g115487c870e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573881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15487c870e_0_1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g115487c870e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884024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15487c870e_0_1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g115487c870e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151015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15487c870e_0_1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g115487c870e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992110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15487c870e_0_1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g115487c870e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077323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15487c870e_0_1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/>
              <a:t>CORS - (Compartilhamento de Recursos entre Origens Diferentes) - </a:t>
            </a:r>
            <a:r>
              <a:rPr lang="pt-BR" dirty="0"/>
              <a:t>é um mecanismo de segurança implementado pelo navegador, função de </a:t>
            </a:r>
            <a:r>
              <a:rPr lang="pt-BR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proteger o usuário contra sites maliciosos</a:t>
            </a:r>
            <a:r>
              <a:rPr lang="pt-BR" dirty="0"/>
              <a:t>. Ele impede que um site falso use suas credenciais (como sessões autenticadas ou cookies) para enviar pedidos escondidos a outros sites onde você está logado (como o site do seu banco), evitando roubo de dados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 err="1"/>
              <a:t>Nodemon</a:t>
            </a:r>
            <a:r>
              <a:rPr lang="pt-BR" dirty="0"/>
              <a:t> - função é monitorar o sistema de arquivos em busca de alterações. Quando você salva um arquivo, ele reinicia automaticamente a aplicação, eliminando a necessidade de parar e iniciar o servidor manualmente</a:t>
            </a:r>
            <a:endParaRPr dirty="0"/>
          </a:p>
        </p:txBody>
      </p:sp>
      <p:sp>
        <p:nvSpPr>
          <p:cNvPr id="87" name="Google Shape;87;g115487c870e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577068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15487c870e_0_1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 err="1"/>
              <a:t>Product</a:t>
            </a:r>
            <a:r>
              <a:rPr lang="pt-BR" dirty="0"/>
              <a:t> </a:t>
            </a:r>
            <a:r>
              <a:rPr lang="pt-BR" dirty="0" err="1"/>
              <a:t>Owner</a:t>
            </a:r>
            <a:r>
              <a:rPr lang="pt-BR" dirty="0"/>
              <a:t> (PO)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- Responsabilidade: definir e priorizar o que será construído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- Cuida do </a:t>
            </a:r>
            <a:r>
              <a:rPr lang="pt-BR" dirty="0" err="1"/>
              <a:t>Product</a:t>
            </a:r>
            <a:r>
              <a:rPr lang="pt-BR" dirty="0"/>
              <a:t> Backlog (lista de funcionalidades)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- Não gerencia pessoas, gerencia o produto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Scrum Master (SM)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- Responsabilidade: garantir que o time siga o Scrum e melhore continuamente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- Remove impedimentos (bloqueios técnicos/burocráticos)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- Facilita as cerimônias (Daily, Planning, Review, Retro)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- Não é gerente do time — é um facilitador/servidor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Desenvolvimento (</a:t>
            </a:r>
            <a:r>
              <a:rPr lang="pt-BR" dirty="0" err="1"/>
              <a:t>Dev</a:t>
            </a:r>
            <a:r>
              <a:rPr lang="pt-BR" dirty="0"/>
              <a:t> Team)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- Responsabilidade: construir a solução (código, infra, banco, etc.)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- São auto-organizáveis: decidem como fazer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- Não existe subdivisão hierárquica no time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 err="1"/>
              <a:t>Tester</a:t>
            </a:r>
            <a:r>
              <a:rPr lang="pt-BR" dirty="0"/>
              <a:t> (QA / </a:t>
            </a:r>
            <a:r>
              <a:rPr lang="pt-BR" dirty="0" err="1"/>
              <a:t>Quality</a:t>
            </a:r>
            <a:r>
              <a:rPr lang="pt-BR" dirty="0"/>
              <a:t> </a:t>
            </a:r>
            <a:r>
              <a:rPr lang="pt-BR" dirty="0" err="1"/>
              <a:t>Assurance</a:t>
            </a:r>
            <a:r>
              <a:rPr lang="pt-BR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- Responsabilidade: garantir a qualidade do que é entregue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- Cria e executa casos de teste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- Testa funcionalidades antes de irem pra produção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- Reporta bugs e valida correções</a:t>
            </a:r>
            <a:endParaRPr dirty="0"/>
          </a:p>
        </p:txBody>
      </p:sp>
      <p:sp>
        <p:nvSpPr>
          <p:cNvPr id="87" name="Google Shape;87;g115487c870e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116587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115d3d04f35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g115d3d04f3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151330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886090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7" name="Google Shape;27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4" y="1220"/>
            <a:ext cx="12189831" cy="68567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>
  <p:cSld name="Comparação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ítulo e Texto Vertical">
  <p:cSld name="1_Título e Texto Vertical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863" y="455423"/>
            <a:ext cx="125246" cy="2357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10" descr="Uma imagem contendo monitor, computador&#10;&#10;Descrição gerada automa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939374" y="208361"/>
            <a:ext cx="125246" cy="2348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>
  <p:cSld name="Título e Texto Vertical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863" y="456345"/>
            <a:ext cx="125246" cy="2348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>
  <p:cSld name="Cabeçalho da Seção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169" y="1221"/>
            <a:ext cx="12189831" cy="68567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 Título Vertical">
  <p:cSld name="Texto e Título Vertical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863" y="455423"/>
            <a:ext cx="125246" cy="2357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>
  <p:cSld name="Imagem com Legenda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30210" y="3830652"/>
            <a:ext cx="125246" cy="2348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9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300"/>
              <a:buFont typeface="Calibri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81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300"/>
              <a:buChar char="•"/>
              <a:defRPr sz="3300"/>
            </a:lvl1pPr>
            <a:lvl2pPr marL="914400" lvl="1" indent="-4191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2pPr>
            <a:lvl3pPr marL="1371600" lvl="2" indent="-4000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3pPr>
            <a:lvl4pPr marL="1828800" lvl="3" indent="-3810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4pPr>
            <a:lvl5pPr marL="2286000" lvl="4" indent="-3810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9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9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1" r:id="rId8"/>
    <p:sldLayoutId id="2147483665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1"/>
          <p:cNvSpPr txBox="1"/>
          <p:nvPr/>
        </p:nvSpPr>
        <p:spPr>
          <a:xfrm>
            <a:off x="5983706" y="4473802"/>
            <a:ext cx="502800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lvl="0">
              <a:lnSpc>
                <a:spcPct val="90000"/>
              </a:lnSpc>
              <a:buSzPts val="440"/>
            </a:pPr>
            <a:r>
              <a:rPr lang="pt-BR" sz="3600" b="1" dirty="0" err="1">
                <a:solidFill>
                  <a:schemeClr val="lt1"/>
                </a:solidFill>
                <a:ea typeface="Calibri"/>
                <a:cs typeface="Calibri"/>
                <a:sym typeface="Calibri"/>
              </a:rPr>
              <a:t>Dialcron</a:t>
            </a:r>
            <a:r>
              <a:rPr lang="pt-BR" sz="3600" b="1" dirty="0">
                <a:solidFill>
                  <a:schemeClr val="lt1"/>
                </a:solidFill>
                <a:ea typeface="Calibri"/>
                <a:cs typeface="Calibri"/>
                <a:sym typeface="Calibri"/>
              </a:rPr>
              <a:t> SL</a:t>
            </a:r>
          </a:p>
        </p:txBody>
      </p:sp>
      <p:pic>
        <p:nvPicPr>
          <p:cNvPr id="77" name="Google Shape;77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77917" y="2840908"/>
            <a:ext cx="549547" cy="1034443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77916" y="2840908"/>
            <a:ext cx="549547" cy="1034443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3C9F310A-9D55-3A6F-E47D-3492EE02E3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3914" y="1025324"/>
            <a:ext cx="3048000" cy="3048000"/>
          </a:xfrm>
          <a:prstGeom prst="rect">
            <a:avLst/>
          </a:prstGeom>
        </p:spPr>
      </p:pic>
      <p:sp>
        <p:nvSpPr>
          <p:cNvPr id="2" name="object 6">
            <a:extLst>
              <a:ext uri="{FF2B5EF4-FFF2-40B4-BE49-F238E27FC236}">
                <a16:creationId xmlns:a16="http://schemas.microsoft.com/office/drawing/2014/main" id="{27C3A5F4-2996-EB07-75F5-05416237179B}"/>
              </a:ext>
            </a:extLst>
          </p:cNvPr>
          <p:cNvSpPr txBox="1">
            <a:spLocks/>
          </p:cNvSpPr>
          <p:nvPr/>
        </p:nvSpPr>
        <p:spPr>
          <a:xfrm>
            <a:off x="0" y="4946588"/>
            <a:ext cx="12192000" cy="82907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15875" rIns="0" bIns="0" rtlCol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700" algn="ctr">
              <a:lnSpc>
                <a:spcPct val="100000"/>
              </a:lnSpc>
              <a:spcBef>
                <a:spcPts val="125"/>
              </a:spcBef>
            </a:pPr>
            <a:r>
              <a:rPr lang="pt-BR" sz="5200" spc="1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Gestão e Qualidade de Software</a:t>
            </a:r>
            <a:endParaRPr lang="pt-BR" sz="5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0443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4"/>
          <p:cNvSpPr txBox="1"/>
          <p:nvPr/>
        </p:nvSpPr>
        <p:spPr>
          <a:xfrm>
            <a:off x="305872" y="1181593"/>
            <a:ext cx="2790300" cy="1600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INTEGRANTES</a:t>
            </a:r>
          </a:p>
          <a:p>
            <a:pPr marL="0" marR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</a:t>
            </a:r>
          </a:p>
          <a:p>
            <a:pPr marL="0" marR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28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EQUIPE</a:t>
            </a:r>
          </a:p>
        </p:txBody>
      </p:sp>
      <p:sp>
        <p:nvSpPr>
          <p:cNvPr id="16" name="Rectangle 3"/>
          <p:cNvSpPr txBox="1">
            <a:spLocks noChangeArrowheads="1"/>
          </p:cNvSpPr>
          <p:nvPr/>
        </p:nvSpPr>
        <p:spPr bwMode="auto">
          <a:xfrm>
            <a:off x="4258100" y="846160"/>
            <a:ext cx="7933899" cy="53911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pt-BR" altLang="pt-BR" sz="2600" b="1" dirty="0"/>
              <a:t>ESTUDANTES : </a:t>
            </a:r>
          </a:p>
          <a:p>
            <a:pPr>
              <a:spcBef>
                <a:spcPct val="0"/>
              </a:spcBef>
              <a:buFontTx/>
              <a:buNone/>
            </a:pPr>
            <a:endParaRPr lang="pt-BR" altLang="pt-BR" sz="1800" b="1" dirty="0"/>
          </a:p>
          <a:p>
            <a:pPr marL="415925" lvl="1" indent="-342900">
              <a:lnSpc>
                <a:spcPct val="200000"/>
              </a:lnSpc>
              <a:spcBef>
                <a:spcPct val="0"/>
              </a:spcBef>
              <a:buClr>
                <a:schemeClr val="tx1"/>
              </a:buClr>
              <a:buFontTx/>
              <a:buAutoNum type="arabicPeriod"/>
            </a:pPr>
            <a:r>
              <a:rPr lang="pt-BR" altLang="pt-BR" sz="1900" dirty="0"/>
              <a:t>Arthur Marques Diniz– RA 42520344</a:t>
            </a:r>
            <a:endParaRPr lang="pt-BR" altLang="pt-BR" sz="2000" dirty="0"/>
          </a:p>
          <a:p>
            <a:endParaRPr lang="pt-BR" altLang="pt-BR" sz="2000" dirty="0"/>
          </a:p>
        </p:txBody>
      </p:sp>
      <p:pic>
        <p:nvPicPr>
          <p:cNvPr id="5" name="Picture 8" descr="Equipe Jovem Profissionais - Gráfico vetorial grátis no Pixaba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303" y="3207225"/>
            <a:ext cx="3667604" cy="33079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71504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3"/>
          <p:cNvSpPr txBox="1"/>
          <p:nvPr/>
        </p:nvSpPr>
        <p:spPr>
          <a:xfrm>
            <a:off x="757724" y="402927"/>
            <a:ext cx="8732639" cy="609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 dirty="0">
                <a:solidFill>
                  <a:srgbClr val="22A29C"/>
                </a:solidFill>
                <a:latin typeface="Calibri"/>
                <a:sym typeface="Calibri"/>
              </a:rPr>
              <a:t>TITULO DO PROJETO E MOTIVAÇÃO </a:t>
            </a:r>
            <a:endParaRPr dirty="0"/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1E072D7-D423-9588-5168-46AACC5B1EF3}"/>
              </a:ext>
            </a:extLst>
          </p:cNvPr>
          <p:cNvSpPr txBox="1">
            <a:spLocks/>
          </p:cNvSpPr>
          <p:nvPr/>
        </p:nvSpPr>
        <p:spPr>
          <a:xfrm>
            <a:off x="838200" y="993058"/>
            <a:ext cx="10515600" cy="5183767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1800" dirty="0"/>
              <a:t>O nome foi escolhido por representar de forma clara a proposta do sistema: um aplicativo de agendamento para salão de beleza. O nome é curto, intuitivo e remete diretamente à gestão de horários.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1800" dirty="0"/>
              <a:t>Dial: referente ao </a:t>
            </a:r>
            <a:r>
              <a:rPr lang="pt-BR" sz="1800" dirty="0" err="1"/>
              <a:t>Dialga</a:t>
            </a:r>
            <a:r>
              <a:rPr lang="pt-BR" sz="1800" dirty="0"/>
              <a:t>, Pokémon considerado Guardião do Tempo;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1800" dirty="0" err="1"/>
              <a:t>Cron</a:t>
            </a:r>
            <a:r>
              <a:rPr lang="pt-BR" sz="1800" dirty="0"/>
              <a:t>: referente ao deus da mitologia grega, conhecido como o deus do tempo.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1800" dirty="0"/>
              <a:t>O </a:t>
            </a:r>
            <a:r>
              <a:rPr lang="pt-BR" sz="1800" dirty="0" err="1"/>
              <a:t>Dialcron</a:t>
            </a:r>
            <a:r>
              <a:rPr lang="pt-BR" sz="1800" dirty="0"/>
              <a:t> SL é um sistema multiplataforma (Windows e Android) que facilita o agendamento em salões de beleza, com interface fácil de usar para criar, alterar ou cancelar agendamentos rapidamente.</a:t>
            </a:r>
          </a:p>
        </p:txBody>
      </p:sp>
    </p:spTree>
    <p:extLst>
      <p:ext uri="{BB962C8B-B14F-4D97-AF65-F5344CB8AC3E}">
        <p14:creationId xmlns:p14="http://schemas.microsoft.com/office/powerpoint/2010/main" val="3692707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3"/>
          <p:cNvSpPr txBox="1"/>
          <p:nvPr/>
        </p:nvSpPr>
        <p:spPr>
          <a:xfrm>
            <a:off x="757725" y="402927"/>
            <a:ext cx="6327600" cy="609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 dirty="0">
                <a:solidFill>
                  <a:srgbClr val="22A29C"/>
                </a:solidFill>
                <a:latin typeface="Calibri"/>
                <a:sym typeface="Calibri"/>
              </a:rPr>
              <a:t>JUSTIFICATIVA DO PROJETO</a:t>
            </a:r>
            <a:endParaRPr dirty="0"/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EE56748-1DAB-192B-E3C6-E1341EA37152}"/>
              </a:ext>
            </a:extLst>
          </p:cNvPr>
          <p:cNvSpPr txBox="1">
            <a:spLocks/>
          </p:cNvSpPr>
          <p:nvPr/>
        </p:nvSpPr>
        <p:spPr>
          <a:xfrm>
            <a:off x="838199" y="993058"/>
            <a:ext cx="10857089" cy="5183767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1800" dirty="0"/>
              <a:t>A solução busca resolver problemas comuns no agendamento de salão de beleza: faltas e erros de marcação, conflito de horários entre profissionais, controle manual de pagamento e situação dos atendimentos, e perda de informações de clientes.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1800" dirty="0"/>
              <a:t>O sistema organiza a agenda dos profissionais, registra os serviços realizados e mantém os dados disponíveis de forma offline e confiável.</a:t>
            </a:r>
          </a:p>
        </p:txBody>
      </p:sp>
    </p:spTree>
    <p:extLst>
      <p:ext uri="{BB962C8B-B14F-4D97-AF65-F5344CB8AC3E}">
        <p14:creationId xmlns:p14="http://schemas.microsoft.com/office/powerpoint/2010/main" val="1853799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3"/>
          <p:cNvSpPr txBox="1"/>
          <p:nvPr/>
        </p:nvSpPr>
        <p:spPr>
          <a:xfrm>
            <a:off x="757725" y="402927"/>
            <a:ext cx="6327600" cy="609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 dirty="0">
                <a:solidFill>
                  <a:srgbClr val="22A29C"/>
                </a:solidFill>
                <a:latin typeface="Calibri"/>
                <a:sym typeface="Calibri"/>
              </a:rPr>
              <a:t>OBJETIVOS E METAS</a:t>
            </a:r>
            <a:endParaRPr dirty="0"/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C1B832B-6169-CB90-12DE-0A84702367E5}"/>
              </a:ext>
            </a:extLst>
          </p:cNvPr>
          <p:cNvSpPr txBox="1">
            <a:spLocks/>
          </p:cNvSpPr>
          <p:nvPr/>
        </p:nvSpPr>
        <p:spPr>
          <a:xfrm>
            <a:off x="838200" y="993058"/>
            <a:ext cx="10515600" cy="5183767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1800" dirty="0"/>
              <a:t>Digitalizar o processo de agendamento do salão, organizando a agenda dos profissionais.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1800" dirty="0"/>
              <a:t>Reduzir faltas e erros de marcação.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1800" dirty="0"/>
              <a:t>Registrar cadastros de clientes, serviços, profissionais e tipos de atendimento.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1800" dirty="0"/>
              <a:t>Funcionar de forma offline, sem necessidade de servidor.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3"/>
          <p:cNvSpPr txBox="1"/>
          <p:nvPr/>
        </p:nvSpPr>
        <p:spPr>
          <a:xfrm>
            <a:off x="757725" y="402927"/>
            <a:ext cx="6327600" cy="609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 dirty="0">
                <a:solidFill>
                  <a:srgbClr val="22A29C"/>
                </a:solidFill>
                <a:latin typeface="Calibri"/>
                <a:sym typeface="Calibri"/>
              </a:rPr>
              <a:t>ETAPAS DO PROJETO</a:t>
            </a:r>
            <a:endParaRPr dirty="0"/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624142-6C64-8053-7300-D8EB77209973}"/>
              </a:ext>
            </a:extLst>
          </p:cNvPr>
          <p:cNvSpPr txBox="1">
            <a:spLocks/>
          </p:cNvSpPr>
          <p:nvPr/>
        </p:nvSpPr>
        <p:spPr>
          <a:xfrm>
            <a:off x="838200" y="993058"/>
            <a:ext cx="10665178" cy="5183767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1800" dirty="0"/>
              <a:t>Levantamento de requisitos e definição do sistema.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1800" dirty="0"/>
              <a:t>Criação do protótipo inicial das telas principais.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1800" dirty="0"/>
              <a:t>Desenvolvimento das funcionalidades básicas de cadastros (cliente, serviço, profissional, tipo de atendimento).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1800" dirty="0"/>
              <a:t>Implementação do agendamento com calendário visual.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1800" dirty="0"/>
              <a:t>Implementação de relatórios e backup/</a:t>
            </a:r>
            <a:r>
              <a:rPr lang="pt-BR" sz="1800" dirty="0" err="1"/>
              <a:t>restore</a:t>
            </a:r>
            <a:r>
              <a:rPr lang="pt-BR" sz="1800" dirty="0"/>
              <a:t>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1800" dirty="0"/>
              <a:t>Testes do sistema e validações.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1800" dirty="0"/>
              <a:t>Entrega final e avaliação.</a:t>
            </a:r>
          </a:p>
        </p:txBody>
      </p:sp>
    </p:spTree>
    <p:extLst>
      <p:ext uri="{BB962C8B-B14F-4D97-AF65-F5344CB8AC3E}">
        <p14:creationId xmlns:p14="http://schemas.microsoft.com/office/powerpoint/2010/main" val="1495609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3"/>
          <p:cNvSpPr txBox="1"/>
          <p:nvPr/>
        </p:nvSpPr>
        <p:spPr>
          <a:xfrm>
            <a:off x="757725" y="402927"/>
            <a:ext cx="6327600" cy="609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 dirty="0">
                <a:solidFill>
                  <a:srgbClr val="22A29C"/>
                </a:solidFill>
                <a:latin typeface="Calibri"/>
                <a:sym typeface="Calibri"/>
              </a:rPr>
              <a:t>PROTÓTIPO INICIAL</a:t>
            </a:r>
            <a:endParaRPr dirty="0"/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40705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3"/>
          <p:cNvSpPr txBox="1"/>
          <p:nvPr/>
        </p:nvSpPr>
        <p:spPr>
          <a:xfrm>
            <a:off x="757725" y="402927"/>
            <a:ext cx="6327600" cy="609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 dirty="0">
                <a:solidFill>
                  <a:srgbClr val="22A29C"/>
                </a:solidFill>
                <a:latin typeface="Calibri"/>
                <a:sym typeface="Calibri"/>
              </a:rPr>
              <a:t>FUNCIONALIDADES PREVISTAS</a:t>
            </a:r>
            <a:endParaRPr dirty="0"/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" name="Espaço Reservado para Texto 2">
            <a:extLst>
              <a:ext uri="{FF2B5EF4-FFF2-40B4-BE49-F238E27FC236}">
                <a16:creationId xmlns:a16="http://schemas.microsoft.com/office/drawing/2014/main" id="{5F64033B-1802-C659-1D9B-494BFB3CEF11}"/>
              </a:ext>
            </a:extLst>
          </p:cNvPr>
          <p:cNvSpPr txBox="1">
            <a:spLocks/>
          </p:cNvSpPr>
          <p:nvPr/>
        </p:nvSpPr>
        <p:spPr>
          <a:xfrm>
            <a:off x="838200" y="993058"/>
            <a:ext cx="10665178" cy="5183767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1800" dirty="0"/>
              <a:t>Cadastro de serviços (nome, preço, duração)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1800" dirty="0"/>
              <a:t>Cadastro de clientes (CRUD + busca)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1800" dirty="0"/>
              <a:t>Cadastro de profissionais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1800" dirty="0"/>
              <a:t>Cadastro de tipos de atendimento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1800" dirty="0"/>
              <a:t>Agendamento com calendário visual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1800" dirty="0"/>
              <a:t>Vincular vários serviços a um atendimento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1800" dirty="0"/>
              <a:t>Relatórios de faturamento diário/semanal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1800" dirty="0"/>
              <a:t>Backup e </a:t>
            </a:r>
            <a:r>
              <a:rPr lang="pt-BR" sz="1800" dirty="0" err="1"/>
              <a:t>restore</a:t>
            </a:r>
            <a:r>
              <a:rPr lang="pt-BR" sz="1800" dirty="0"/>
              <a:t> do banco de dados</a:t>
            </a:r>
          </a:p>
        </p:txBody>
      </p:sp>
    </p:spTree>
    <p:extLst>
      <p:ext uri="{BB962C8B-B14F-4D97-AF65-F5344CB8AC3E}">
        <p14:creationId xmlns:p14="http://schemas.microsoft.com/office/powerpoint/2010/main" val="3524062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3"/>
          <p:cNvSpPr txBox="1"/>
          <p:nvPr/>
        </p:nvSpPr>
        <p:spPr>
          <a:xfrm>
            <a:off x="757725" y="402927"/>
            <a:ext cx="8086024" cy="437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 dirty="0">
                <a:solidFill>
                  <a:srgbClr val="22A29C"/>
                </a:solidFill>
                <a:latin typeface="Calibri"/>
                <a:sym typeface="Calibri"/>
              </a:rPr>
              <a:t>FERRAMENTAS E FRAMEWORKS</a:t>
            </a:r>
            <a:endParaRPr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DDED53E-EDA8-CBFC-6F91-0974FFAD3592}"/>
              </a:ext>
            </a:extLst>
          </p:cNvPr>
          <p:cNvSpPr txBox="1">
            <a:spLocks/>
          </p:cNvSpPr>
          <p:nvPr/>
        </p:nvSpPr>
        <p:spPr>
          <a:xfrm>
            <a:off x="838200" y="993058"/>
            <a:ext cx="10665178" cy="5183767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Frontend: .NET MAUI (Windows + Android)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Backend/</a:t>
            </a:r>
            <a:r>
              <a:rPr lang="en-US" sz="1800" dirty="0" err="1"/>
              <a:t>persistência</a:t>
            </a:r>
            <a:r>
              <a:rPr lang="en-US" sz="1800" dirty="0"/>
              <a:t>: SQLite com ORM </a:t>
            </a:r>
            <a:r>
              <a:rPr lang="en-US" sz="1800" dirty="0" err="1"/>
              <a:t>sqlite</a:t>
            </a:r>
            <a:r>
              <a:rPr lang="en-US" sz="1800" dirty="0"/>
              <a:t>-net-</a:t>
            </a:r>
            <a:r>
              <a:rPr lang="en-US" sz="1800" dirty="0" err="1"/>
              <a:t>pcl</a:t>
            </a:r>
            <a:endParaRPr lang="en-US" sz="18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 err="1"/>
              <a:t>Arquitetura</a:t>
            </a:r>
            <a:r>
              <a:rPr lang="en-US" sz="1800" dirty="0"/>
              <a:t>: 2 </a:t>
            </a:r>
            <a:r>
              <a:rPr lang="en-US" sz="1800" dirty="0" err="1"/>
              <a:t>camadas</a:t>
            </a:r>
            <a:r>
              <a:rPr lang="en-US" sz="1800" dirty="0"/>
              <a:t> (Models/DAO e Pages code-behind)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 err="1"/>
              <a:t>Calendário</a:t>
            </a:r>
            <a:r>
              <a:rPr lang="en-US" sz="1800" dirty="0"/>
              <a:t>: </a:t>
            </a:r>
            <a:r>
              <a:rPr lang="en-US" sz="1800" dirty="0" err="1"/>
              <a:t>Plugin.Maui.Calendar</a:t>
            </a:r>
            <a:endParaRPr lang="en-US" sz="18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CI/CD: GitHub Actions (Windows standalone + Android APK)</a:t>
            </a:r>
          </a:p>
        </p:txBody>
      </p:sp>
    </p:spTree>
    <p:extLst>
      <p:ext uri="{BB962C8B-B14F-4D97-AF65-F5344CB8AC3E}">
        <p14:creationId xmlns:p14="http://schemas.microsoft.com/office/powerpoint/2010/main" val="2159790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3"/>
          <p:cNvSpPr txBox="1"/>
          <p:nvPr/>
        </p:nvSpPr>
        <p:spPr>
          <a:xfrm>
            <a:off x="757725" y="402927"/>
            <a:ext cx="8086024" cy="609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 dirty="0">
                <a:solidFill>
                  <a:srgbClr val="22A29C"/>
                </a:solidFill>
                <a:latin typeface="Calibri"/>
                <a:sym typeface="Calibri"/>
              </a:rPr>
              <a:t>INTEGRANTES DA EQUIPE E ATIVIDADES</a:t>
            </a:r>
            <a:endParaRPr sz="1800" dirty="0">
              <a:solidFill>
                <a:srgbClr val="FF0000"/>
              </a:solidFill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7FA365B-70ED-B393-5FB9-BFA849D91D1B}"/>
              </a:ext>
            </a:extLst>
          </p:cNvPr>
          <p:cNvSpPr txBox="1">
            <a:spLocks/>
          </p:cNvSpPr>
          <p:nvPr/>
        </p:nvSpPr>
        <p:spPr>
          <a:xfrm>
            <a:off x="838200" y="993058"/>
            <a:ext cx="10665178" cy="5183767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pt-BR" sz="1800" dirty="0"/>
          </a:p>
        </p:txBody>
      </p:sp>
      <p:sp>
        <p:nvSpPr>
          <p:cNvPr id="4" name="Espaço Reservado para Texto 2">
            <a:extLst>
              <a:ext uri="{FF2B5EF4-FFF2-40B4-BE49-F238E27FC236}">
                <a16:creationId xmlns:a16="http://schemas.microsoft.com/office/drawing/2014/main" id="{E5D14E31-FF66-D71D-FC1F-3D57BAC8B9C7}"/>
              </a:ext>
            </a:extLst>
          </p:cNvPr>
          <p:cNvSpPr txBox="1">
            <a:spLocks/>
          </p:cNvSpPr>
          <p:nvPr/>
        </p:nvSpPr>
        <p:spPr>
          <a:xfrm>
            <a:off x="990600" y="1145458"/>
            <a:ext cx="10665178" cy="5183767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1800" dirty="0"/>
              <a:t>Arthur Marques Diniz - RA 42520344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1800" dirty="0"/>
              <a:t>Atividades: levantamento de requisitos, modelagem de dados, desenvolvimento do aplicativo (Models, </a:t>
            </a:r>
            <a:r>
              <a:rPr lang="pt-BR" sz="1800" dirty="0" err="1"/>
              <a:t>DAOs</a:t>
            </a:r>
            <a:r>
              <a:rPr lang="pt-BR" sz="1800" dirty="0"/>
              <a:t> e telas), testes e documentação.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168216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/>
        </p:nvSpPr>
        <p:spPr>
          <a:xfrm>
            <a:off x="757725" y="402927"/>
            <a:ext cx="6327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rgbClr val="22A29C"/>
                </a:solidFill>
                <a:latin typeface="Calibri"/>
                <a:ea typeface="Calibri"/>
                <a:cs typeface="Calibri"/>
                <a:sym typeface="Calibri"/>
              </a:rPr>
              <a:t>DÚVIDAS?</a:t>
            </a: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5" name="Google Shape;95;p24" descr="Resultado de imagem para DUVIDA vetor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5638" y="1750763"/>
            <a:ext cx="2360725" cy="335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13900" y="2468223"/>
            <a:ext cx="2348565" cy="19215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703</Words>
  <Application>Microsoft Office PowerPoint</Application>
  <PresentationFormat>Widescreen</PresentationFormat>
  <Paragraphs>75</Paragraphs>
  <Slides>12</Slides>
  <Notes>12</Notes>
  <HiddenSlides>2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cp:lastModifiedBy>Arthur Marques Diniz</cp:lastModifiedBy>
  <cp:revision>8</cp:revision>
  <dcterms:modified xsi:type="dcterms:W3CDTF">2026-08-30T16:36:18Z</dcterms:modified>
</cp:coreProperties>
</file>