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66" r:id="rId1"/>
  </p:sldMasterIdLst>
  <p:notesMasterIdLst>
    <p:notesMasterId r:id="rId16"/>
  </p:notesMasterIdLst>
  <p:sldIdLst>
    <p:sldId id="271" r:id="rId2"/>
    <p:sldId id="264" r:id="rId3"/>
    <p:sldId id="263" r:id="rId4"/>
    <p:sldId id="265" r:id="rId5"/>
    <p:sldId id="259" r:id="rId6"/>
    <p:sldId id="266" r:id="rId7"/>
    <p:sldId id="267" r:id="rId8"/>
    <p:sldId id="273" r:id="rId9"/>
    <p:sldId id="274" r:id="rId10"/>
    <p:sldId id="272" r:id="rId11"/>
    <p:sldId id="269" r:id="rId12"/>
    <p:sldId id="268" r:id="rId13"/>
    <p:sldId id="260" r:id="rId14"/>
    <p:sldId id="262" r:id="rId15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49E84E8-66A5-43AE-B08C-6C30BBEC42B1}" v="54" dt="2026-06-12T16:17:46.03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80387" autoAdjust="0"/>
  </p:normalViewPr>
  <p:slideViewPr>
    <p:cSldViewPr snapToGrid="0">
      <p:cViewPr varScale="1">
        <p:scale>
          <a:sx n="90" d="100"/>
          <a:sy n="90" d="100"/>
        </p:scale>
        <p:origin x="135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‹nº›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712196763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" name="Google Shape;74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45108632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115487c870e_0_6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" name="Google Shape;95;g115487c870e_0_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94099992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15487c870e_0_13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" name="Google Shape;87;g115487c870e_0_1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30119375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15487c870e_0_13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" name="Google Shape;87;g115487c870e_0_1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95738810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15487c870e_0_13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" name="Google Shape;87;g115487c870e_0_1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18840247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15487c870e_0_13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" name="Google Shape;87;g115487c870e_0_1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11510152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15487c870e_0_13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" name="Google Shape;87;g115487c870e_0_1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09921102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F744080A-E1DE-69D4-421B-5094618644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15487c870e_0_135:notes">
            <a:extLst>
              <a:ext uri="{FF2B5EF4-FFF2-40B4-BE49-F238E27FC236}">
                <a16:creationId xmlns:a16="http://schemas.microsoft.com/office/drawing/2014/main" id="{0A1AA749-C70F-C28F-A245-2D0CA9479E0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" name="Google Shape;87;g115487c870e_0_135:notes">
            <a:extLst>
              <a:ext uri="{FF2B5EF4-FFF2-40B4-BE49-F238E27FC236}">
                <a16:creationId xmlns:a16="http://schemas.microsoft.com/office/drawing/2014/main" id="{E6C106EC-1EB9-2499-2404-EDB6A0F4289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24225044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B6C497A1-7952-7117-FAF0-D574420F5D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15487c870e_0_135:notes">
            <a:extLst>
              <a:ext uri="{FF2B5EF4-FFF2-40B4-BE49-F238E27FC236}">
                <a16:creationId xmlns:a16="http://schemas.microsoft.com/office/drawing/2014/main" id="{E565CEC8-4917-A9A2-84CD-AE48F5D0270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" name="Google Shape;87;g115487c870e_0_135:notes">
            <a:extLst>
              <a:ext uri="{FF2B5EF4-FFF2-40B4-BE49-F238E27FC236}">
                <a16:creationId xmlns:a16="http://schemas.microsoft.com/office/drawing/2014/main" id="{DBA3A641-7C60-8529-DB81-B8090604C05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5685764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15487c870e_0_13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" name="Google Shape;87;g115487c870e_0_1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80773231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15487c870e_0_13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87" name="Google Shape;87;g115487c870e_0_1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95770680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15487c870e_0_13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 err="1"/>
              <a:t>Product</a:t>
            </a:r>
            <a:r>
              <a:rPr lang="pt-BR" dirty="0"/>
              <a:t> </a:t>
            </a:r>
            <a:r>
              <a:rPr lang="pt-BR" dirty="0" err="1"/>
              <a:t>Owner</a:t>
            </a:r>
            <a:r>
              <a:rPr lang="pt-BR" dirty="0"/>
              <a:t> (PO)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- Responsabilidade: definir e priorizar o que será construído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- Cuida do </a:t>
            </a:r>
            <a:r>
              <a:rPr lang="pt-BR" dirty="0" err="1"/>
              <a:t>Product</a:t>
            </a:r>
            <a:r>
              <a:rPr lang="pt-BR" dirty="0"/>
              <a:t> Backlog (lista de funcionalidades)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- Não gerencia pessoas, gerencia o produto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pt-B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Scrum Master (SM)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- Responsabilidade: garantir que o time siga o Scrum e melhore continuamente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- Remove impedimentos (bloqueios técnicos/burocráticos)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- Facilita as cerimônias (Daily, Planning, Review, Retro)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- Não é gerente do time — é um facilitador/servidor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pt-B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Desenvolvimento (</a:t>
            </a:r>
            <a:r>
              <a:rPr lang="pt-BR" dirty="0" err="1"/>
              <a:t>Dev</a:t>
            </a:r>
            <a:r>
              <a:rPr lang="pt-BR" dirty="0"/>
              <a:t> Team)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- Responsabilidade: construir a solução (código, infra, banco, etc.)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- São auto-organizáveis: decidem como fazer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- Não existe subdivisão hierárquica no time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pt-B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 err="1"/>
              <a:t>Tester</a:t>
            </a:r>
            <a:r>
              <a:rPr lang="pt-BR" dirty="0"/>
              <a:t> (QA / </a:t>
            </a:r>
            <a:r>
              <a:rPr lang="pt-BR" dirty="0" err="1"/>
              <a:t>Quality</a:t>
            </a:r>
            <a:r>
              <a:rPr lang="pt-BR" dirty="0"/>
              <a:t> </a:t>
            </a:r>
            <a:r>
              <a:rPr lang="pt-BR" dirty="0" err="1"/>
              <a:t>Assurance</a:t>
            </a:r>
            <a:r>
              <a:rPr lang="pt-BR" dirty="0"/>
              <a:t>)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- Responsabilidade: garantir a qualidade do que é entregue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- Cria e executa casos de teste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- Testa funcionalidades antes de irem pra produção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- Reporta bugs e valida correções</a:t>
            </a:r>
            <a:endParaRPr dirty="0"/>
          </a:p>
        </p:txBody>
      </p:sp>
      <p:sp>
        <p:nvSpPr>
          <p:cNvPr id="87" name="Google Shape;87;g115487c870e_0_1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51165871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115d3d04f35_0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" name="Google Shape;92;g115d3d04f3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31513307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5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78860909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de Título" type="title">
  <p:cSld name="TITLE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pic>
        <p:nvPicPr>
          <p:cNvPr id="27" name="Google Shape;27;p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84" y="1220"/>
            <a:ext cx="12189831" cy="68567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ação">
  <p:cSld name="Comparação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Google Shape;31;p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ítulo e Texto Vertical">
  <p:cSld name="1_Título e Texto Vertical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" name="Google Shape;35;p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6" name="Google Shape;36;p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41863" y="455423"/>
            <a:ext cx="125246" cy="2357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m Branco" type="blank">
  <p:cSld name="BLANK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" name="Google Shape;38;p10" descr="Uma imagem contendo monitor, computador&#10;&#10;Descrição gerada automaticamente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9" name="Google Shape;39;p1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939374" y="208361"/>
            <a:ext cx="125246" cy="23483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Texto Vertical">
  <p:cSld name="Título e Texto Vertical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" name="Google Shape;41;p1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2" name="Google Shape;42;p1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41863" y="456345"/>
            <a:ext cx="125246" cy="23483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beçalho da Seção">
  <p:cSld name="Cabeçalho da Seção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" name="Google Shape;44;p1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169" y="1221"/>
            <a:ext cx="12189831" cy="685677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o e Título Vertical">
  <p:cSld name="Texto e Título Vertical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" name="Google Shape;46;p1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7" name="Google Shape;47;p1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41863" y="455423"/>
            <a:ext cx="125246" cy="2357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m com Legenda">
  <p:cSld name="Imagem com Legenda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" name="Google Shape;52;p1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3" name="Google Shape;53;p1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630210" y="3830652"/>
            <a:ext cx="125246" cy="23483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9"/>
          <p:cNvSpPr txBox="1">
            <a:spLocks noGrp="1"/>
          </p:cNvSpPr>
          <p:nvPr>
            <p:ph type="title"/>
          </p:nvPr>
        </p:nvSpPr>
        <p:spPr>
          <a:xfrm>
            <a:off x="838200" y="365127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3300"/>
              <a:buFont typeface="Calibri"/>
              <a:buNone/>
              <a:defRPr>
                <a:solidFill>
                  <a:srgbClr val="FF0000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19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81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3300"/>
              <a:buChar char="•"/>
              <a:defRPr sz="3300"/>
            </a:lvl1pPr>
            <a:lvl2pPr marL="914400" lvl="1" indent="-4191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3000"/>
              <a:buChar char="•"/>
              <a:defRPr sz="3000"/>
            </a:lvl2pPr>
            <a:lvl3pPr marL="1371600" lvl="2" indent="-4000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700"/>
              <a:buChar char="•"/>
              <a:defRPr sz="2700"/>
            </a:lvl3pPr>
            <a:lvl4pPr marL="1828800" lvl="3" indent="-3810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4pPr>
            <a:lvl5pPr marL="2286000" lvl="4" indent="-3810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3" name="Google Shape;63;p19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19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19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1" r:id="rId1"/>
    <p:sldLayoutId id="2147483653" r:id="rId2"/>
    <p:sldLayoutId id="2147483655" r:id="rId3"/>
    <p:sldLayoutId id="2147483656" r:id="rId4"/>
    <p:sldLayoutId id="2147483657" r:id="rId5"/>
    <p:sldLayoutId id="2147483658" r:id="rId6"/>
    <p:sldLayoutId id="2147483659" r:id="rId7"/>
    <p:sldLayoutId id="2147483661" r:id="rId8"/>
    <p:sldLayoutId id="2147483665" r:id="rId9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21"/>
          <p:cNvSpPr txBox="1"/>
          <p:nvPr/>
        </p:nvSpPr>
        <p:spPr>
          <a:xfrm>
            <a:off x="5983706" y="4473802"/>
            <a:ext cx="5028000" cy="5908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spAutoFit/>
          </a:bodyPr>
          <a:lstStyle/>
          <a:p>
            <a:pPr lvl="0">
              <a:lnSpc>
                <a:spcPct val="90000"/>
              </a:lnSpc>
              <a:buSzPts val="440"/>
            </a:pPr>
            <a:r>
              <a:rPr lang="pt-BR" sz="3600" b="1" dirty="0" err="1">
                <a:solidFill>
                  <a:schemeClr val="lt1"/>
                </a:solidFill>
                <a:ea typeface="Calibri"/>
                <a:cs typeface="Calibri"/>
                <a:sym typeface="Calibri"/>
              </a:rPr>
              <a:t>Dialcron</a:t>
            </a:r>
            <a:r>
              <a:rPr lang="pt-BR" sz="3600" b="1" dirty="0">
                <a:solidFill>
                  <a:schemeClr val="lt1"/>
                </a:solidFill>
                <a:ea typeface="Calibri"/>
                <a:cs typeface="Calibri"/>
                <a:sym typeface="Calibri"/>
              </a:rPr>
              <a:t> SL</a:t>
            </a:r>
          </a:p>
        </p:txBody>
      </p:sp>
      <p:pic>
        <p:nvPicPr>
          <p:cNvPr id="77" name="Google Shape;77;p2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577917" y="2840908"/>
            <a:ext cx="549547" cy="1034443"/>
          </a:xfrm>
          <a:prstGeom prst="rect">
            <a:avLst/>
          </a:prstGeom>
          <a:noFill/>
          <a:ln>
            <a:noFill/>
          </a:ln>
        </p:spPr>
      </p:pic>
      <p:pic>
        <p:nvPicPr>
          <p:cNvPr id="78" name="Google Shape;78;p2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577916" y="2840908"/>
            <a:ext cx="549547" cy="1034443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Imagem 2">
            <a:extLst>
              <a:ext uri="{FF2B5EF4-FFF2-40B4-BE49-F238E27FC236}">
                <a16:creationId xmlns:a16="http://schemas.microsoft.com/office/drawing/2014/main" id="{3C9F310A-9D55-3A6F-E47D-3492EE02E3E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33914" y="1025324"/>
            <a:ext cx="3048000" cy="3048000"/>
          </a:xfrm>
          <a:prstGeom prst="rect">
            <a:avLst/>
          </a:prstGeom>
        </p:spPr>
      </p:pic>
      <p:sp>
        <p:nvSpPr>
          <p:cNvPr id="2" name="object 6">
            <a:extLst>
              <a:ext uri="{FF2B5EF4-FFF2-40B4-BE49-F238E27FC236}">
                <a16:creationId xmlns:a16="http://schemas.microsoft.com/office/drawing/2014/main" id="{27C3A5F4-2996-EB07-75F5-05416237179B}"/>
              </a:ext>
            </a:extLst>
          </p:cNvPr>
          <p:cNvSpPr txBox="1">
            <a:spLocks/>
          </p:cNvSpPr>
          <p:nvPr/>
        </p:nvSpPr>
        <p:spPr>
          <a:xfrm>
            <a:off x="0" y="4946588"/>
            <a:ext cx="12192000" cy="829073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0" tIns="15875" rIns="0" bIns="0" rtlCol="0" anchor="ctr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12700" algn="ctr">
              <a:lnSpc>
                <a:spcPct val="100000"/>
              </a:lnSpc>
              <a:spcBef>
                <a:spcPts val="125"/>
              </a:spcBef>
            </a:pPr>
            <a:r>
              <a:rPr lang="pt-BR" sz="5200" spc="1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Gestão e Qualidade de Software</a:t>
            </a:r>
            <a:endParaRPr lang="pt-BR" sz="52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404439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25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4"/>
          <p:cNvSpPr txBox="1"/>
          <p:nvPr/>
        </p:nvSpPr>
        <p:spPr>
          <a:xfrm>
            <a:off x="305872" y="1181593"/>
            <a:ext cx="2790300" cy="16003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spAutoFit/>
          </a:bodyPr>
          <a:lstStyle/>
          <a:p>
            <a:pPr marL="0" marR="0" lvl="0" indent="0" algn="ctr" rt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800" b="1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INTEGRANTES</a:t>
            </a:r>
          </a:p>
          <a:p>
            <a:pPr marL="0" marR="0" lvl="0" indent="0" algn="ctr" rt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800" b="1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800" b="1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DA</a:t>
            </a:r>
          </a:p>
          <a:p>
            <a:pPr marL="0" marR="0" lvl="0" indent="0" algn="ctr" rt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pt-BR" sz="2800" b="1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800" b="1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EQUIPE</a:t>
            </a:r>
          </a:p>
        </p:txBody>
      </p:sp>
      <p:sp>
        <p:nvSpPr>
          <p:cNvPr id="16" name="Rectangle 3"/>
          <p:cNvSpPr txBox="1">
            <a:spLocks noChangeArrowheads="1"/>
          </p:cNvSpPr>
          <p:nvPr/>
        </p:nvSpPr>
        <p:spPr bwMode="auto">
          <a:xfrm>
            <a:off x="4258100" y="846160"/>
            <a:ext cx="7933899" cy="53911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pt-BR" altLang="pt-BR" sz="2600" b="1" dirty="0"/>
              <a:t>ESTUDANTES : </a:t>
            </a:r>
          </a:p>
          <a:p>
            <a:pPr>
              <a:spcBef>
                <a:spcPct val="0"/>
              </a:spcBef>
              <a:buFontTx/>
              <a:buNone/>
            </a:pPr>
            <a:endParaRPr lang="pt-BR" altLang="pt-BR" sz="1800" b="1" dirty="0"/>
          </a:p>
          <a:p>
            <a:pPr marL="415925" lvl="1" indent="-342900">
              <a:lnSpc>
                <a:spcPct val="200000"/>
              </a:lnSpc>
              <a:spcBef>
                <a:spcPct val="0"/>
              </a:spcBef>
              <a:buClr>
                <a:schemeClr val="tx1"/>
              </a:buClr>
              <a:buFontTx/>
              <a:buAutoNum type="arabicPeriod"/>
            </a:pPr>
            <a:r>
              <a:rPr lang="pt-BR" altLang="pt-BR" sz="1900" dirty="0"/>
              <a:t>Arthur Marques Diniz– RA: 42520344</a:t>
            </a:r>
          </a:p>
          <a:p>
            <a:pPr marL="415925" lvl="1" indent="-342900">
              <a:lnSpc>
                <a:spcPct val="200000"/>
              </a:lnSpc>
              <a:spcBef>
                <a:spcPct val="0"/>
              </a:spcBef>
              <a:buClr>
                <a:schemeClr val="tx1"/>
              </a:buClr>
              <a:buFontTx/>
              <a:buAutoNum type="arabicPeriod"/>
            </a:pPr>
            <a:r>
              <a:rPr lang="pt-BR" altLang="pt-BR" sz="2000" dirty="0"/>
              <a:t>Bernardo Luiz Monteverde Gonçalves – RA: 4251923322</a:t>
            </a:r>
          </a:p>
          <a:p>
            <a:pPr marL="415925" lvl="1" indent="-342900">
              <a:lnSpc>
                <a:spcPct val="200000"/>
              </a:lnSpc>
              <a:spcBef>
                <a:spcPct val="0"/>
              </a:spcBef>
              <a:buClr>
                <a:schemeClr val="tx1"/>
              </a:buClr>
              <a:buFontTx/>
              <a:buAutoNum type="arabicPeriod"/>
            </a:pPr>
            <a:r>
              <a:rPr lang="pt-BR" altLang="pt-BR" sz="2000" dirty="0"/>
              <a:t>Luiz Filipe Pimenta Correa – RA: 4261214196</a:t>
            </a:r>
          </a:p>
          <a:p>
            <a:pPr marL="415925" lvl="1" indent="-342900">
              <a:lnSpc>
                <a:spcPct val="200000"/>
              </a:lnSpc>
              <a:spcBef>
                <a:spcPct val="0"/>
              </a:spcBef>
              <a:buClr>
                <a:schemeClr val="tx1"/>
              </a:buClr>
              <a:buFontTx/>
              <a:buAutoNum type="arabicPeriod"/>
            </a:pPr>
            <a:r>
              <a:rPr lang="pt-BR" altLang="pt-BR" sz="2000" dirty="0"/>
              <a:t>Patrick Oliveira Rabelo de Brito – RA: 4251923386</a:t>
            </a:r>
          </a:p>
          <a:p>
            <a:endParaRPr lang="pt-BR" altLang="pt-BR" sz="2000" dirty="0"/>
          </a:p>
        </p:txBody>
      </p:sp>
      <p:pic>
        <p:nvPicPr>
          <p:cNvPr id="5" name="Picture 8" descr="Equipe Jovem Profissionais - Gráfico vetorial grátis no Pixabay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303" y="3207225"/>
            <a:ext cx="3667604" cy="33079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7715047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3"/>
          <p:cNvSpPr txBox="1"/>
          <p:nvPr/>
        </p:nvSpPr>
        <p:spPr>
          <a:xfrm>
            <a:off x="757724" y="402927"/>
            <a:ext cx="8732639" cy="6093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sp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800" b="1" dirty="0">
                <a:solidFill>
                  <a:srgbClr val="22A29C"/>
                </a:solidFill>
                <a:latin typeface="Calibri"/>
                <a:sym typeface="Calibri"/>
              </a:rPr>
              <a:t>TITULO DO PROJETO E MOTIVAÇÃO </a:t>
            </a:r>
            <a:endParaRPr dirty="0"/>
          </a:p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91E072D7-D423-9588-5168-46AACC5B1EF3}"/>
              </a:ext>
            </a:extLst>
          </p:cNvPr>
          <p:cNvSpPr txBox="1">
            <a:spLocks/>
          </p:cNvSpPr>
          <p:nvPr/>
        </p:nvSpPr>
        <p:spPr>
          <a:xfrm>
            <a:off x="838200" y="993058"/>
            <a:ext cx="10515600" cy="5183767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pt-BR" sz="1800" dirty="0"/>
              <a:t>O nome foi escolhido por representar de forma clara a proposta do sistema: um aplicativo de agendamento para salão de beleza. O nome é curto, intuitivo e remete diretamente à gestão de horários.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pt-BR" sz="1800" dirty="0"/>
              <a:t>Dial: referente ao </a:t>
            </a:r>
            <a:r>
              <a:rPr lang="pt-BR" sz="1800" dirty="0" err="1"/>
              <a:t>Dialga</a:t>
            </a:r>
            <a:r>
              <a:rPr lang="pt-BR" sz="1800" dirty="0"/>
              <a:t>, Pokémon considerado Guardião do Tempo;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pt-BR" sz="1800" dirty="0" err="1"/>
              <a:t>Cron</a:t>
            </a:r>
            <a:r>
              <a:rPr lang="pt-BR" sz="1800" dirty="0"/>
              <a:t>: referente ao deus da mitologia grega, conhecido como o deus do tempo.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pt-BR" sz="1800" dirty="0"/>
              <a:t>O </a:t>
            </a:r>
            <a:r>
              <a:rPr lang="pt-BR" sz="1800" dirty="0" err="1"/>
              <a:t>Dialcron</a:t>
            </a:r>
            <a:r>
              <a:rPr lang="pt-BR" sz="1800" dirty="0"/>
              <a:t> SL é um sistema Windows que facilita o agendamento em salões de beleza, com interface fácil de usar para criar, alterar ou cancelar agendamentos rapidamente.</a:t>
            </a:r>
          </a:p>
        </p:txBody>
      </p:sp>
    </p:spTree>
    <p:extLst>
      <p:ext uri="{BB962C8B-B14F-4D97-AF65-F5344CB8AC3E}">
        <p14:creationId xmlns:p14="http://schemas.microsoft.com/office/powerpoint/2010/main" val="36927076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3"/>
          <p:cNvSpPr txBox="1"/>
          <p:nvPr/>
        </p:nvSpPr>
        <p:spPr>
          <a:xfrm>
            <a:off x="757725" y="402927"/>
            <a:ext cx="6327600" cy="6093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sp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800" b="1" dirty="0">
                <a:solidFill>
                  <a:srgbClr val="22A29C"/>
                </a:solidFill>
                <a:latin typeface="Calibri"/>
                <a:sym typeface="Calibri"/>
              </a:rPr>
              <a:t>JUSTIFICATIVA DO PROJETO</a:t>
            </a:r>
            <a:endParaRPr dirty="0"/>
          </a:p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FEE56748-1DAB-192B-E3C6-E1341EA37152}"/>
              </a:ext>
            </a:extLst>
          </p:cNvPr>
          <p:cNvSpPr txBox="1">
            <a:spLocks/>
          </p:cNvSpPr>
          <p:nvPr/>
        </p:nvSpPr>
        <p:spPr>
          <a:xfrm>
            <a:off x="838199" y="993058"/>
            <a:ext cx="10857089" cy="5183767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pt-BR" sz="1800" dirty="0"/>
              <a:t>A solução busca resolver problemas comuns no agendamento de salão de beleza: faltas e erros de marcação, conflito de horários entre profissionais, controle manual de pagamento e situação dos atendimentos, e perda de informações de clientes. 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pt-BR" sz="1800" dirty="0"/>
              <a:t>O sistema organiza a agenda dos profissionais, registra os serviços realizados e mantém os dados disponíveis de forma offline e confiável.</a:t>
            </a:r>
          </a:p>
        </p:txBody>
      </p:sp>
    </p:spTree>
    <p:extLst>
      <p:ext uri="{BB962C8B-B14F-4D97-AF65-F5344CB8AC3E}">
        <p14:creationId xmlns:p14="http://schemas.microsoft.com/office/powerpoint/2010/main" val="18537998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3"/>
          <p:cNvSpPr txBox="1"/>
          <p:nvPr/>
        </p:nvSpPr>
        <p:spPr>
          <a:xfrm>
            <a:off x="757725" y="402927"/>
            <a:ext cx="6327600" cy="6093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sp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800" b="1" dirty="0">
                <a:solidFill>
                  <a:srgbClr val="22A29C"/>
                </a:solidFill>
                <a:latin typeface="Calibri"/>
                <a:sym typeface="Calibri"/>
              </a:rPr>
              <a:t>OBJETIVOS E METAS</a:t>
            </a:r>
            <a:endParaRPr dirty="0"/>
          </a:p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0C1B832B-6169-CB90-12DE-0A84702367E5}"/>
              </a:ext>
            </a:extLst>
          </p:cNvPr>
          <p:cNvSpPr txBox="1">
            <a:spLocks/>
          </p:cNvSpPr>
          <p:nvPr/>
        </p:nvSpPr>
        <p:spPr>
          <a:xfrm>
            <a:off x="838200" y="993058"/>
            <a:ext cx="10515600" cy="5183767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pt-BR" sz="1800" dirty="0"/>
              <a:t>Digitalizar o processo de agendamento do salão, organizando a agenda dos profissionais.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pt-BR" sz="1800" dirty="0"/>
              <a:t>Reduzir faltas e erros de marcação.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pt-BR" sz="1800" dirty="0"/>
              <a:t>Registrar cadastros de clientes, serviços, profissionais e tipos de atendimento.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pt-BR" sz="1800" dirty="0"/>
              <a:t>Funcionar de forma offline, sem necessidade de servidor.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3"/>
          <p:cNvSpPr txBox="1"/>
          <p:nvPr/>
        </p:nvSpPr>
        <p:spPr>
          <a:xfrm>
            <a:off x="757725" y="402927"/>
            <a:ext cx="6327600" cy="6093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sp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800" b="1" dirty="0">
                <a:solidFill>
                  <a:srgbClr val="22A29C"/>
                </a:solidFill>
                <a:latin typeface="Calibri"/>
                <a:sym typeface="Calibri"/>
              </a:rPr>
              <a:t>ETAPAS DO PROJETO</a:t>
            </a:r>
            <a:endParaRPr dirty="0"/>
          </a:p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0624142-6C64-8053-7300-D8EB77209973}"/>
              </a:ext>
            </a:extLst>
          </p:cNvPr>
          <p:cNvSpPr txBox="1">
            <a:spLocks/>
          </p:cNvSpPr>
          <p:nvPr/>
        </p:nvSpPr>
        <p:spPr>
          <a:xfrm>
            <a:off x="838200" y="993058"/>
            <a:ext cx="10665178" cy="5183767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pt-BR" sz="1800" dirty="0"/>
              <a:t>Levantamento de requisitos e definição do sistema.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pt-BR" sz="1800" dirty="0"/>
              <a:t>Criação do protótipo inicial das telas principais.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pt-BR" sz="1800" dirty="0"/>
              <a:t>Desenvolvimento das funcionalidades básicas de cadastros (cliente, serviço, profissional, unidade).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pt-BR" sz="1800" dirty="0"/>
              <a:t>Implementação do agendamento.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pt-BR" sz="1800" dirty="0"/>
              <a:t>Testes do sistema e validações.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pt-BR" sz="1800" dirty="0"/>
              <a:t>Entrega final e avaliação.</a:t>
            </a:r>
          </a:p>
        </p:txBody>
      </p:sp>
    </p:spTree>
    <p:extLst>
      <p:ext uri="{BB962C8B-B14F-4D97-AF65-F5344CB8AC3E}">
        <p14:creationId xmlns:p14="http://schemas.microsoft.com/office/powerpoint/2010/main" val="14956094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3"/>
          <p:cNvSpPr txBox="1"/>
          <p:nvPr/>
        </p:nvSpPr>
        <p:spPr>
          <a:xfrm>
            <a:off x="757725" y="402927"/>
            <a:ext cx="6327600" cy="6093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sp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800" b="1" dirty="0">
                <a:solidFill>
                  <a:srgbClr val="22A29C"/>
                </a:solidFill>
                <a:latin typeface="Calibri"/>
                <a:sym typeface="Calibri"/>
              </a:rPr>
              <a:t>PROTÓTIPO INICIAL</a:t>
            </a:r>
            <a:endParaRPr dirty="0"/>
          </a:p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B4774B0F-ED82-6DCE-8BB0-C512B3D15F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95629" y="1031705"/>
            <a:ext cx="8200742" cy="52169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07053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">
          <a:extLst>
            <a:ext uri="{FF2B5EF4-FFF2-40B4-BE49-F238E27FC236}">
              <a16:creationId xmlns:a16="http://schemas.microsoft.com/office/drawing/2014/main" id="{27F98172-6E2F-759C-8CB1-20E272C915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3">
            <a:extLst>
              <a:ext uri="{FF2B5EF4-FFF2-40B4-BE49-F238E27FC236}">
                <a16:creationId xmlns:a16="http://schemas.microsoft.com/office/drawing/2014/main" id="{46CA075C-372A-C98A-EE60-63F94D77C54B}"/>
              </a:ext>
            </a:extLst>
          </p:cNvPr>
          <p:cNvSpPr txBox="1"/>
          <p:nvPr/>
        </p:nvSpPr>
        <p:spPr>
          <a:xfrm>
            <a:off x="757725" y="402927"/>
            <a:ext cx="6327600" cy="6093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sp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800" b="1" dirty="0">
                <a:solidFill>
                  <a:srgbClr val="22A29C"/>
                </a:solidFill>
                <a:latin typeface="Calibri"/>
                <a:sym typeface="Calibri"/>
              </a:rPr>
              <a:t>PROTÓTIPO INICIAL</a:t>
            </a:r>
            <a:endParaRPr dirty="0"/>
          </a:p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A5C103A6-A51A-5BA3-1FDB-2C41126D8E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77656" y="1012284"/>
            <a:ext cx="8506968" cy="52886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52479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">
          <a:extLst>
            <a:ext uri="{FF2B5EF4-FFF2-40B4-BE49-F238E27FC236}">
              <a16:creationId xmlns:a16="http://schemas.microsoft.com/office/drawing/2014/main" id="{159BF990-D361-DFF0-3758-24E33057C6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3">
            <a:extLst>
              <a:ext uri="{FF2B5EF4-FFF2-40B4-BE49-F238E27FC236}">
                <a16:creationId xmlns:a16="http://schemas.microsoft.com/office/drawing/2014/main" id="{2B2A08E0-0A43-F542-8682-2612B68767E4}"/>
              </a:ext>
            </a:extLst>
          </p:cNvPr>
          <p:cNvSpPr txBox="1"/>
          <p:nvPr/>
        </p:nvSpPr>
        <p:spPr>
          <a:xfrm>
            <a:off x="757725" y="402927"/>
            <a:ext cx="6327600" cy="6093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sp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800" b="1" dirty="0">
                <a:solidFill>
                  <a:srgbClr val="22A29C"/>
                </a:solidFill>
                <a:latin typeface="Calibri"/>
                <a:sym typeface="Calibri"/>
              </a:rPr>
              <a:t>PROTÓTIPO INICIAL</a:t>
            </a:r>
            <a:endParaRPr dirty="0"/>
          </a:p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0901F0F1-7517-6FC0-0C98-8EBBF232FF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75638" y="1152059"/>
            <a:ext cx="9044706" cy="50965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67959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3"/>
          <p:cNvSpPr txBox="1"/>
          <p:nvPr/>
        </p:nvSpPr>
        <p:spPr>
          <a:xfrm>
            <a:off x="757725" y="402927"/>
            <a:ext cx="6327600" cy="6093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sp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800" b="1" dirty="0">
                <a:solidFill>
                  <a:srgbClr val="22A29C"/>
                </a:solidFill>
                <a:latin typeface="Calibri"/>
                <a:sym typeface="Calibri"/>
              </a:rPr>
              <a:t>FUNCIONALIDADES PREVISTAS</a:t>
            </a:r>
            <a:endParaRPr dirty="0"/>
          </a:p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" name="Espaço Reservado para Texto 2">
            <a:extLst>
              <a:ext uri="{FF2B5EF4-FFF2-40B4-BE49-F238E27FC236}">
                <a16:creationId xmlns:a16="http://schemas.microsoft.com/office/drawing/2014/main" id="{5F64033B-1802-C659-1D9B-494BFB3CEF11}"/>
              </a:ext>
            </a:extLst>
          </p:cNvPr>
          <p:cNvSpPr txBox="1">
            <a:spLocks/>
          </p:cNvSpPr>
          <p:nvPr/>
        </p:nvSpPr>
        <p:spPr>
          <a:xfrm>
            <a:off x="838200" y="993058"/>
            <a:ext cx="10665178" cy="5183767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pt-BR" sz="1800" dirty="0"/>
              <a:t>Cadastro de serviços (nome, preço, duração)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pt-BR" sz="1800" dirty="0"/>
              <a:t>Cadastro de clientes (CRUD + busca)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pt-BR" sz="1800" dirty="0"/>
              <a:t>Cadastro de profissionais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pt-BR" sz="1800" dirty="0"/>
              <a:t>Agendamento com calendário visual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pt-BR" sz="1800" dirty="0"/>
              <a:t>Vincular vários serviços a um atendimento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pt-BR" sz="1800" dirty="0"/>
              <a:t>Backup do banco de dados</a:t>
            </a:r>
          </a:p>
        </p:txBody>
      </p:sp>
    </p:spTree>
    <p:extLst>
      <p:ext uri="{BB962C8B-B14F-4D97-AF65-F5344CB8AC3E}">
        <p14:creationId xmlns:p14="http://schemas.microsoft.com/office/powerpoint/2010/main" val="35240628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3"/>
          <p:cNvSpPr txBox="1"/>
          <p:nvPr/>
        </p:nvSpPr>
        <p:spPr>
          <a:xfrm>
            <a:off x="757725" y="402927"/>
            <a:ext cx="8086024" cy="4370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sp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800" b="1" dirty="0">
                <a:solidFill>
                  <a:srgbClr val="22A29C"/>
                </a:solidFill>
                <a:latin typeface="Calibri"/>
                <a:sym typeface="Calibri"/>
              </a:rPr>
              <a:t>FERRAMENTAS E FRAMEWORKS</a:t>
            </a:r>
            <a:endParaRPr dirty="0"/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3DDED53E-EDA8-CBFC-6F91-0974FFAD3592}"/>
              </a:ext>
            </a:extLst>
          </p:cNvPr>
          <p:cNvSpPr txBox="1">
            <a:spLocks/>
          </p:cNvSpPr>
          <p:nvPr/>
        </p:nvSpPr>
        <p:spPr>
          <a:xfrm>
            <a:off x="838200" y="993058"/>
            <a:ext cx="10665178" cy="5183767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800" dirty="0"/>
              <a:t>Framework: </a:t>
            </a:r>
            <a:r>
              <a:rPr lang="en-US" sz="1800" dirty="0" err="1"/>
              <a:t>Winforms</a:t>
            </a:r>
            <a:endParaRPr lang="en-US" sz="1800" dirty="0"/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800" dirty="0"/>
              <a:t>Banco de dados: SQLite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800" dirty="0" err="1"/>
              <a:t>Arquitetura</a:t>
            </a:r>
            <a:r>
              <a:rPr lang="en-US" sz="1800" dirty="0"/>
              <a:t>: 2 </a:t>
            </a:r>
            <a:r>
              <a:rPr lang="en-US" sz="1800" dirty="0" err="1"/>
              <a:t>camadas</a:t>
            </a:r>
            <a:r>
              <a:rPr lang="en-US" sz="1800" dirty="0"/>
              <a:t> (Models/DAO)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800" dirty="0"/>
              <a:t>CI/CD: GitHub Actions (Windows standalone + Android APK)</a:t>
            </a:r>
          </a:p>
        </p:txBody>
      </p:sp>
    </p:spTree>
    <p:extLst>
      <p:ext uri="{BB962C8B-B14F-4D97-AF65-F5344CB8AC3E}">
        <p14:creationId xmlns:p14="http://schemas.microsoft.com/office/powerpoint/2010/main" val="21597903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3"/>
          <p:cNvSpPr txBox="1"/>
          <p:nvPr/>
        </p:nvSpPr>
        <p:spPr>
          <a:xfrm>
            <a:off x="757725" y="402927"/>
            <a:ext cx="8086024" cy="6093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sp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800" b="1" dirty="0">
                <a:solidFill>
                  <a:srgbClr val="22A29C"/>
                </a:solidFill>
                <a:latin typeface="Calibri"/>
                <a:sym typeface="Calibri"/>
              </a:rPr>
              <a:t>INTEGRANTES DA EQUIPE E ATIVIDADES</a:t>
            </a:r>
            <a:endParaRPr sz="1800" dirty="0">
              <a:solidFill>
                <a:srgbClr val="FF0000"/>
              </a:solidFill>
            </a:endParaRPr>
          </a:p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27FA365B-70ED-B393-5FB9-BFA849D91D1B}"/>
              </a:ext>
            </a:extLst>
          </p:cNvPr>
          <p:cNvSpPr txBox="1">
            <a:spLocks/>
          </p:cNvSpPr>
          <p:nvPr/>
        </p:nvSpPr>
        <p:spPr>
          <a:xfrm>
            <a:off x="838200" y="993058"/>
            <a:ext cx="10665178" cy="5183767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endParaRPr lang="pt-BR" sz="1800" dirty="0"/>
          </a:p>
        </p:txBody>
      </p:sp>
      <p:sp>
        <p:nvSpPr>
          <p:cNvPr id="4" name="Espaço Reservado para Texto 2">
            <a:extLst>
              <a:ext uri="{FF2B5EF4-FFF2-40B4-BE49-F238E27FC236}">
                <a16:creationId xmlns:a16="http://schemas.microsoft.com/office/drawing/2014/main" id="{E5D14E31-FF66-D71D-FC1F-3D57BAC8B9C7}"/>
              </a:ext>
            </a:extLst>
          </p:cNvPr>
          <p:cNvSpPr txBox="1">
            <a:spLocks/>
          </p:cNvSpPr>
          <p:nvPr/>
        </p:nvSpPr>
        <p:spPr>
          <a:xfrm>
            <a:off x="990600" y="1145460"/>
            <a:ext cx="10665178" cy="5183766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285750" lvl="1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pt-BR" sz="1800" b="1" dirty="0"/>
              <a:t>Arthur Marques Diniz</a:t>
            </a:r>
          </a:p>
          <a:p>
            <a:pPr lvl="8">
              <a:lnSpc>
                <a:spcPct val="200000"/>
              </a:lnSpc>
            </a:pPr>
            <a:r>
              <a:rPr lang="pt-BR" sz="1800" b="1" dirty="0"/>
              <a:t>Atividade: </a:t>
            </a:r>
            <a:r>
              <a:rPr lang="pt-BR" sz="1800" dirty="0"/>
              <a:t>Levantamento de requisitos, modelagem de dados, desenvolvimento do aplicativo;</a:t>
            </a:r>
          </a:p>
          <a:p>
            <a:pPr marL="285750" lvl="8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pt-BR" altLang="pt-BR" sz="1800" b="1" dirty="0"/>
              <a:t>Bernardo Luiz Monteverde Gonçalves</a:t>
            </a:r>
          </a:p>
          <a:p>
            <a:pPr lvl="8">
              <a:lnSpc>
                <a:spcPct val="200000"/>
              </a:lnSpc>
            </a:pPr>
            <a:r>
              <a:rPr lang="pt-BR" sz="1800" b="1" dirty="0"/>
              <a:t>Atividades: </a:t>
            </a:r>
            <a:r>
              <a:rPr lang="pt-BR" sz="1800" dirty="0"/>
              <a:t>Criação de testes e validações;</a:t>
            </a:r>
          </a:p>
          <a:p>
            <a:pPr marL="285750" lvl="1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pt-BR" altLang="pt-BR" sz="1800" b="1" dirty="0"/>
              <a:t>Luiz Filipe Pimenta Correa:</a:t>
            </a:r>
          </a:p>
          <a:p>
            <a:pPr lvl="1">
              <a:lnSpc>
                <a:spcPct val="200000"/>
              </a:lnSpc>
            </a:pPr>
            <a:r>
              <a:rPr lang="pt-BR" altLang="pt-BR" sz="1800" b="1" dirty="0"/>
              <a:t>Atividades: </a:t>
            </a:r>
            <a:r>
              <a:rPr lang="pt-BR" altLang="pt-BR" sz="1800" dirty="0"/>
              <a:t>Ajustes documentação;</a:t>
            </a:r>
          </a:p>
          <a:p>
            <a:pPr marL="285750" lvl="1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pt-BR" altLang="pt-BR" sz="1800" b="1" dirty="0"/>
              <a:t>Patrick Oliveira Rabelo de Brito</a:t>
            </a:r>
          </a:p>
          <a:p>
            <a:pPr lvl="1">
              <a:lnSpc>
                <a:spcPct val="200000"/>
              </a:lnSpc>
            </a:pPr>
            <a:r>
              <a:rPr lang="pt-BR" sz="1800" b="1" dirty="0"/>
              <a:t>Atividades: </a:t>
            </a:r>
            <a:r>
              <a:rPr lang="pt-BR" sz="1800" dirty="0"/>
              <a:t>Ajuste e acessibilidade</a:t>
            </a:r>
          </a:p>
          <a:p>
            <a:pPr marL="285750" lvl="1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41682167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4"/>
          <p:cNvSpPr txBox="1"/>
          <p:nvPr/>
        </p:nvSpPr>
        <p:spPr>
          <a:xfrm>
            <a:off x="757725" y="402927"/>
            <a:ext cx="63276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sp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800" b="1">
                <a:solidFill>
                  <a:srgbClr val="22A29C"/>
                </a:solidFill>
                <a:latin typeface="Calibri"/>
                <a:ea typeface="Calibri"/>
                <a:cs typeface="Calibri"/>
                <a:sym typeface="Calibri"/>
              </a:rPr>
              <a:t>DÚVIDAS?</a:t>
            </a:r>
            <a:endParaRPr/>
          </a:p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95" name="Google Shape;95;p24" descr="Resultado de imagem para DUVIDA vetor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15638" y="1750763"/>
            <a:ext cx="2360725" cy="3356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" name="Google Shape;107;p2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613900" y="2468223"/>
            <a:ext cx="2348565" cy="192155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o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109</TotalTime>
  <Words>597</Words>
  <Application>Microsoft Office PowerPoint</Application>
  <PresentationFormat>Widescreen</PresentationFormat>
  <Paragraphs>79</Paragraphs>
  <Slides>14</Slides>
  <Notes>14</Notes>
  <HiddenSlides>1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14</vt:i4>
      </vt:variant>
    </vt:vector>
  </HeadingPairs>
  <TitlesOfParts>
    <vt:vector size="18" baseType="lpstr">
      <vt:lpstr>Arial</vt:lpstr>
      <vt:lpstr>Calibri</vt:lpstr>
      <vt:lpstr>Times New Roman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cp:lastModifiedBy>Arthur Marques Diniz</cp:lastModifiedBy>
  <cp:revision>11</cp:revision>
  <dcterms:modified xsi:type="dcterms:W3CDTF">2026-10-25T14:05:20Z</dcterms:modified>
</cp:coreProperties>
</file>